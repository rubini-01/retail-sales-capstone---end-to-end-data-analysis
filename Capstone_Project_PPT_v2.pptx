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274320"/>
            <a:ext cx="3657600" cy="3657600"/>
          </a:xfrm>
          <a:prstGeom prst="ellipse">
            <a:avLst/>
          </a:prstGeom>
          <a:solidFill>
            <a:srgbClr val="1B4F8C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1097280"/>
            <a:ext cx="2194560" cy="2194560"/>
          </a:xfrm>
          <a:prstGeom prst="ellipse">
            <a:avLst/>
          </a:prstGeom>
          <a:solidFill>
            <a:srgbClr val="2D7DD2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2377440"/>
            <a:ext cx="1280160" cy="1280160"/>
          </a:xfrm>
          <a:prstGeom prst="ellipse">
            <a:avLst/>
          </a:prstGeom>
          <a:solidFill>
            <a:srgbClr val="F4A261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</a:rPr>
              <a:t>END-TO-END CAPSTONE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Retail Sales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Data Analysis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CCEE"/>
                </a:solidFill>
              </a:rPr>
              <a:t>A complete hands-on project using Excel · SQL · Python · Power BI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5 INTERCONNECTED DATASETS — All tools use multiple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40416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0416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64208" y="40416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B4F8C"/>
          </a:solidFill>
          <a:ln/>
        </p:spPr>
      </p:sp>
      <p:sp>
        <p:nvSpPr>
          <p:cNvPr id="13" name="Text 11"/>
          <p:cNvSpPr/>
          <p:nvPr/>
        </p:nvSpPr>
        <p:spPr>
          <a:xfrm>
            <a:off x="1664208" y="40416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62656" y="40416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6C3483"/>
          </a:solidFill>
          <a:ln/>
        </p:spPr>
      </p:sp>
      <p:sp>
        <p:nvSpPr>
          <p:cNvPr id="15" name="Text 13"/>
          <p:cNvSpPr/>
          <p:nvPr/>
        </p:nvSpPr>
        <p:spPr>
          <a:xfrm>
            <a:off x="2962656" y="40416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61104" y="40416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4261104" y="40416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59552" y="40416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5559552" y="40416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EF"/>
                </a:solidFill>
              </a:rPr>
              <a:t>Institute Capstone Project  |  Data Analyst Training Program  |  Duration: 2 Weeks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MAP — 5 FILES &amp; HOW THEY CONNECT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1371600"/>
            <a:ext cx="2560320" cy="100584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📄 retail_sales_2023.csv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91840" y="171907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FEE"/>
                </a:solidFill>
              </a:rPr>
              <a:t>12,150 rows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FFEE"/>
                </a:solidFill>
              </a:rPr>
              <a:t>Order_ID · Customer_ID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FFEE"/>
                </a:solidFill>
              </a:rPr>
              <a:t>Category · Product_Name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FFEE"/>
                </a:solidFill>
              </a:rPr>
              <a:t>Sales · Profit · Discount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138074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E9C46A"/>
                </a:solidFill>
              </a:rPr>
              <a:t>PRIMARY TABLE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377440" cy="914400"/>
          </a:xfrm>
          <a:prstGeom prst="rect">
            <a:avLst/>
          </a:prstGeom>
          <a:solidFill>
            <a:srgbClr val="1B4F8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👥 customers.csv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E5FF"/>
                </a:solidFill>
              </a:rPr>
              <a:t>500 rows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E5FF"/>
                </a:solidFill>
              </a:rPr>
              <a:t>Customer_ID · Name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E5FF"/>
                </a:solidFill>
              </a:rPr>
              <a:t>Age · City · Region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E5FF"/>
                </a:solidFill>
              </a:rPr>
              <a:t>Segment · Join_Date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481328"/>
            <a:ext cx="640080" cy="0"/>
          </a:xfrm>
          <a:prstGeom prst="line">
            <a:avLst/>
          </a:prstGeom>
          <a:noFill/>
          <a:ln w="25400">
            <a:solidFill>
              <a:srgbClr val="1B4F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8988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B4F8C"/>
                </a:solidFill>
              </a:rPr>
              <a:t>JOIN 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1B4F8C"/>
                </a:solidFill>
              </a:rPr>
              <a:t>Customer_ID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92240" y="1005840"/>
            <a:ext cx="2377440" cy="914400"/>
          </a:xfrm>
          <a:prstGeom prst="rect">
            <a:avLst/>
          </a:prstGeom>
          <a:solidFill>
            <a:srgbClr val="6C348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📦 products.csv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0" y="1325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D5FF"/>
                </a:solidFill>
              </a:rPr>
              <a:t>70 rows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D5FF"/>
                </a:solidFill>
              </a:rPr>
              <a:t>Product_Name · Category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D5FF"/>
                </a:solidFill>
              </a:rPr>
              <a:t>Cost_Price · Rating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D5FF"/>
                </a:solidFill>
              </a:rPr>
              <a:t>Stock_Qty · Supplier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52160" y="1481328"/>
            <a:ext cx="640080" cy="0"/>
          </a:xfrm>
          <a:prstGeom prst="line">
            <a:avLst/>
          </a:prstGeom>
          <a:noFill/>
          <a:ln w="254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389888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C3483"/>
                </a:solidFill>
              </a:rPr>
              <a:t>JOIN 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6C3483"/>
                </a:solidFill>
              </a:rPr>
              <a:t>Product_Name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377440" cy="960120"/>
          </a:xfrm>
          <a:prstGeom prst="rect">
            <a:avLst/>
          </a:prstGeom>
          <a:solidFill>
            <a:srgbClr val="E76F5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↩️ returns.csv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154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E0D0"/>
                </a:solidFill>
              </a:rPr>
              <a:t>480 rows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E0D0"/>
                </a:solidFill>
              </a:rPr>
              <a:t>Return_ID · Order_ID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E0D0"/>
                </a:solidFill>
              </a:rPr>
              <a:t>Return_Reason · Status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E0D0"/>
                </a:solidFill>
              </a:rPr>
              <a:t>Refund_Amount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51760" y="3310128"/>
            <a:ext cx="64008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32004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E76F51"/>
                </a:solidFill>
              </a:rPr>
              <a:t>JOIN 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E76F51"/>
                </a:solidFill>
              </a:rPr>
              <a:t>Order_ID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492240" y="2834640"/>
            <a:ext cx="2377440" cy="96012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🎯 monthly_targets.csv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3154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F0EE"/>
                </a:solidFill>
              </a:rPr>
              <a:t>336 rows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0F0EE"/>
                </a:solidFill>
              </a:rPr>
              <a:t>Region · Category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0F0EE"/>
                </a:solidFill>
              </a:rPr>
              <a:t>Month · Sales_Target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0F0EE"/>
                </a:solidFill>
              </a:rPr>
              <a:t>Sales_Actual · Achievement_Pct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52160" y="3310128"/>
            <a:ext cx="6400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D7377"/>
                </a:solidFill>
              </a:rPr>
              <a:t>Match 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0D7377"/>
                </a:solidFill>
              </a:rPr>
              <a:t>Region+Category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0" y="2377440"/>
            <a:ext cx="0" cy="45720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834640"/>
            <a:ext cx="0" cy="45720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834640"/>
            <a:ext cx="192024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977640"/>
            <a:ext cx="8595360" cy="1005840"/>
          </a:xfrm>
          <a:prstGeom prst="rect">
            <a:avLst/>
          </a:prstGeom>
          <a:solidFill>
            <a:srgbClr val="EEF2FF"/>
          </a:solidFill>
          <a:ln w="6350">
            <a:solidFill>
              <a:srgbClr val="C0C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416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Which datasets each tool uses: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201168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Sales + Customers + Targets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0320" y="4343400"/>
            <a:ext cx="2011680" cy="50292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6032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Sales + Customers + Products + Returns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0" y="4343400"/>
            <a:ext cx="201168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Sales + Customers + Returns + Products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949440" y="4343400"/>
            <a:ext cx="201168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4" name="Text 42"/>
          <p:cNvSpPr/>
          <p:nvPr/>
        </p:nvSpPr>
        <p:spPr>
          <a:xfrm>
            <a:off x="694944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All 5 Files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ALL 5 DATASETS — Column Reference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7498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" y="1005840"/>
            <a:ext cx="1920240" cy="7498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07899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retail_sales_2023.csv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42646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</a:rPr>
              <a:t>12,150 rows · Has intentional data quality issues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340864" y="113385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</a:rPr>
              <a:t>Order_ID | Order_Date | Customer_ID | Customer_Name | Region | Category | Product_Name | Quantity | Unit_Price | Discount | Sales | Profit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28800"/>
            <a:ext cx="54864" cy="74980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" y="1828800"/>
            <a:ext cx="1920240" cy="74980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190195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customers.csv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24942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</a:rPr>
              <a:t>500 rows · Links via Customer_ID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340864" y="195681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</a:rPr>
              <a:t>Customer_ID | Customer_Name | Age | Gender | City | Region | Email | Phone | Join_Date | Segment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51760"/>
            <a:ext cx="54864" cy="7498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" y="2651760"/>
            <a:ext cx="1920240" cy="7498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7249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products.csv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307238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</a:rPr>
              <a:t>70 rows · Links via Product_Name &amp; Category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40864" y="277977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</a:rPr>
              <a:t>Product_ID | Product_Name | Category | Cost_Price | Selling_Price | Stock_Qty | Supplier | Rating | Reviews_Count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74720"/>
            <a:ext cx="54864" cy="74980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" y="3474720"/>
            <a:ext cx="1920240" cy="74980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54787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returns.csv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89534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</a:rPr>
              <a:t>480 rows · Links via Order_ID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340864" y="360273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</a:rPr>
              <a:t>Return_ID | Order_ID | Customer_ID | Return_Date | Category | Return_Reason | Refund_Amount | Status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97680"/>
            <a:ext cx="54864" cy="7498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" y="4297680"/>
            <a:ext cx="1920240" cy="7498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437083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monthly_targets.csv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7183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</a:rPr>
              <a:t>336 rows · Links via Region &amp; Category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340864" y="442569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</a:rPr>
              <a:t>Region | Category | Month | Month_Num | Year | Sales_Target | Sales_Actual | Achievement_Pct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114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PHASE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</a:rPr>
              <a:t>EXCEL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208483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F1E8"/>
                </a:solidFill>
              </a:rPr>
              <a:t>Data Cleaning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F1E8"/>
                </a:solidFill>
              </a:rPr>
              <a:t>&amp; Exploration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2880360"/>
            <a:ext cx="2377440" cy="17373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9C46A"/>
                </a:solidFill>
              </a:rPr>
              <a:t>FILES USED: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3218688"/>
            <a:ext cx="2231136" cy="320040"/>
          </a:xfrm>
          <a:prstGeom prst="roundRect">
            <a:avLst>
              <a:gd name="adj" fmla="val 11429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321868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3639312"/>
            <a:ext cx="2231136" cy="320040"/>
          </a:xfrm>
          <a:prstGeom prst="roundRect">
            <a:avLst>
              <a:gd name="adj" fmla="val 11429"/>
            </a:avLst>
          </a:prstGeom>
          <a:solidFill>
            <a:srgbClr val="AADDFF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363931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customers.csv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4059936"/>
            <a:ext cx="2231136" cy="320040"/>
          </a:xfrm>
          <a:prstGeom prst="roundRect">
            <a:avLst>
              <a:gd name="adj" fmla="val 11429"/>
            </a:avLst>
          </a:prstGeom>
          <a:solidFill>
            <a:srgbClr val="FFE0A0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059936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</a:rPr>
              <a:t>monthly_targets.csv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0" y="48006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DDCC"/>
                </a:solidFill>
              </a:rPr>
              <a:t>Tool: Microsoft Excel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88920" y="16459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42"/>
                </a:solidFill>
              </a:rPr>
              <a:t>Your Tasks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88920" y="548640"/>
            <a:ext cx="6126480" cy="3657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88920" y="658368"/>
            <a:ext cx="6080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88920" y="658368"/>
            <a:ext cx="54864" cy="868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Shape 17"/>
          <p:cNvSpPr/>
          <p:nvPr/>
        </p:nvSpPr>
        <p:spPr>
          <a:xfrm>
            <a:off x="2852928" y="713232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2852928" y="713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55264" y="704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Data Cleaning (Sales)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55264" y="9509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Remove duplicates · Fix blank Customer_Name · Correct Region casing (NORTH→North) · Handle null Quantity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55264" y="1234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55464" y="1225296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855464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88920" y="1527048"/>
            <a:ext cx="6080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88920" y="1527048"/>
            <a:ext cx="54864" cy="868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52928" y="1581912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2852928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55264" y="15727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Calculated Columns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55264" y="18196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Revenue = Qty×Unit_Price×(1-Discount) · Month/Quarter from Order_Date · Profit Margin % column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55264" y="21031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55464" y="2093976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34" name="Text 32"/>
          <p:cNvSpPr/>
          <p:nvPr/>
        </p:nvSpPr>
        <p:spPr>
          <a:xfrm>
            <a:off x="4855464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88920" y="2395728"/>
            <a:ext cx="6080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88920" y="2395728"/>
            <a:ext cx="54864" cy="868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7" name="Shape 35"/>
          <p:cNvSpPr/>
          <p:nvPr/>
        </p:nvSpPr>
        <p:spPr>
          <a:xfrm>
            <a:off x="2852928" y="2450592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8" name="Text 36"/>
          <p:cNvSpPr/>
          <p:nvPr/>
        </p:nvSpPr>
        <p:spPr>
          <a:xfrm>
            <a:off x="2852928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55264" y="24414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Customer Lookup &amp; VLOOKUP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255264" y="268833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Use VLOOKUP/XLOOKUP to pull City, Segment from customers.csv into sales sheet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55264" y="29718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55464" y="2962656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43" name="Text 41"/>
          <p:cNvSpPr/>
          <p:nvPr/>
        </p:nvSpPr>
        <p:spPr>
          <a:xfrm>
            <a:off x="4855464" y="2962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27064" y="296265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1B4F8C"/>
          </a:solidFill>
          <a:ln/>
        </p:spPr>
      </p:sp>
      <p:sp>
        <p:nvSpPr>
          <p:cNvPr id="45" name="Text 43"/>
          <p:cNvSpPr/>
          <p:nvPr/>
        </p:nvSpPr>
        <p:spPr>
          <a:xfrm>
            <a:off x="6227064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customers.csv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88920" y="3264408"/>
            <a:ext cx="6080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88920" y="3264408"/>
            <a:ext cx="54864" cy="868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8" name="Shape 46"/>
          <p:cNvSpPr/>
          <p:nvPr/>
        </p:nvSpPr>
        <p:spPr>
          <a:xfrm>
            <a:off x="2852928" y="3319272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9" name="Text 47"/>
          <p:cNvSpPr/>
          <p:nvPr/>
        </p:nvSpPr>
        <p:spPr>
          <a:xfrm>
            <a:off x="2852928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55264" y="33101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Pivot Tables &amp; Charts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255264" y="355701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Sales by Region/Category · Monthly trend · Top 10 Products · Target vs Actual by Month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255264" y="38404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55464" y="3831336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54" name="Text 52"/>
          <p:cNvSpPr/>
          <p:nvPr/>
        </p:nvSpPr>
        <p:spPr>
          <a:xfrm>
            <a:off x="4855464" y="3831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684264" y="3831336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56" name="Text 54"/>
          <p:cNvSpPr/>
          <p:nvPr/>
        </p:nvSpPr>
        <p:spPr>
          <a:xfrm>
            <a:off x="6684264" y="3831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monthly_targets.csv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788920" y="4133088"/>
            <a:ext cx="6080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788920" y="4133088"/>
            <a:ext cx="54864" cy="868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9" name="Shape 57"/>
          <p:cNvSpPr/>
          <p:nvPr/>
        </p:nvSpPr>
        <p:spPr>
          <a:xfrm>
            <a:off x="2852928" y="4187952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0" name="Text 58"/>
          <p:cNvSpPr/>
          <p:nvPr/>
        </p:nvSpPr>
        <p:spPr>
          <a:xfrm>
            <a:off x="2852928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255264" y="41788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Conditional Formatting + Target Analysis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3255264" y="442569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Highlight sales below target in red · Flag Profit&lt;0 · Show achievement % per region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255264" y="4709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55464" y="4700016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65" name="Text 63"/>
          <p:cNvSpPr/>
          <p:nvPr/>
        </p:nvSpPr>
        <p:spPr>
          <a:xfrm>
            <a:off x="4855464" y="4700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684264" y="4700016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67" name="Text 65"/>
          <p:cNvSpPr/>
          <p:nvPr/>
        </p:nvSpPr>
        <p:spPr>
          <a:xfrm>
            <a:off x="6684264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monthly_targets.csv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788920" y="4892040"/>
            <a:ext cx="6126480" cy="16459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9" name="Text 67"/>
          <p:cNvSpPr/>
          <p:nvPr/>
        </p:nvSpPr>
        <p:spPr>
          <a:xfrm>
            <a:off x="2816352" y="4892040"/>
            <a:ext cx="6071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📁 Deliverable: retail_cleaned.xlsx with cleaned data + customer segments + pivot charts + target comparison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114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PHASE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</a:rPr>
              <a:t>SQL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208483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D8F8"/>
                </a:solidFill>
              </a:rPr>
              <a:t>Multi-Table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0D8F8"/>
                </a:solidFill>
              </a:rPr>
              <a:t>Querying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2880360"/>
            <a:ext cx="2377440" cy="19202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9C46A"/>
                </a:solidFill>
              </a:rPr>
              <a:t>FILES USED: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3218688"/>
            <a:ext cx="2231136" cy="292608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321868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retail_sales_2023.csv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2880" y="3602736"/>
            <a:ext cx="2231136" cy="292608"/>
          </a:xfrm>
          <a:prstGeom prst="roundRect">
            <a:avLst>
              <a:gd name="adj" fmla="val 12500"/>
            </a:avLst>
          </a:prstGeom>
          <a:solidFill>
            <a:srgbClr val="AADDFF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360273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customers.csv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" y="3986784"/>
            <a:ext cx="2231136" cy="292608"/>
          </a:xfrm>
          <a:prstGeom prst="roundRect">
            <a:avLst>
              <a:gd name="adj" fmla="val 12500"/>
            </a:avLst>
          </a:prstGeom>
          <a:solidFill>
            <a:srgbClr val="D5AA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39867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products.csv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4370832"/>
            <a:ext cx="2231136" cy="292608"/>
          </a:xfrm>
          <a:prstGeom prst="roundRect">
            <a:avLst>
              <a:gd name="adj" fmla="val 12500"/>
            </a:avLst>
          </a:prstGeom>
          <a:solidFill>
            <a:srgbClr val="FFBB99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437083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returns.csv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0" y="48006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CCEE"/>
                </a:solidFill>
              </a:rPr>
              <a:t>Tool: MySQL / PostgreSQL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88920" y="16459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42"/>
                </a:solidFill>
              </a:rPr>
              <a:t>Business Questions to Answer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88920" y="548640"/>
            <a:ext cx="6126480" cy="36576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9" name="Shape 17"/>
          <p:cNvSpPr/>
          <p:nvPr/>
        </p:nvSpPr>
        <p:spPr>
          <a:xfrm>
            <a:off x="2788920" y="658368"/>
            <a:ext cx="6080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88920" y="658368"/>
            <a:ext cx="54864" cy="6583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1" name="Shape 19"/>
          <p:cNvSpPr/>
          <p:nvPr/>
        </p:nvSpPr>
        <p:spPr>
          <a:xfrm>
            <a:off x="2843784" y="658368"/>
            <a:ext cx="475488" cy="6583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2" name="Text 20"/>
          <p:cNvSpPr/>
          <p:nvPr/>
        </p:nvSpPr>
        <p:spPr>
          <a:xfrm>
            <a:off x="2843784" y="6583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01568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Revenue &amp; Profit by Region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9326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SELECT Region, SUM(Sales), SUM(Profit) FROM sales GROUP BY Region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01568" y="11155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01768" y="110642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5001768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88920" y="1389888"/>
            <a:ext cx="6080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88920" y="1389888"/>
            <a:ext cx="54864" cy="6583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0" name="Shape 28"/>
          <p:cNvSpPr/>
          <p:nvPr/>
        </p:nvSpPr>
        <p:spPr>
          <a:xfrm>
            <a:off x="2843784" y="1389888"/>
            <a:ext cx="475488" cy="6583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1" name="Text 29"/>
          <p:cNvSpPr/>
          <p:nvPr/>
        </p:nvSpPr>
        <p:spPr>
          <a:xfrm>
            <a:off x="2843784" y="138988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01568" y="142646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Customer Demographics + Purchase Behaviour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01568" y="16642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JOIN sales ↔ customers on Customer_ID — avg spend per Segment &amp; City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01568" y="18470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01768" y="183794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36" name="Text 34"/>
          <p:cNvSpPr/>
          <p:nvPr/>
        </p:nvSpPr>
        <p:spPr>
          <a:xfrm>
            <a:off x="5001768" y="1837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73368" y="1837944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1B4F8C"/>
          </a:solidFill>
          <a:ln/>
        </p:spPr>
      </p:sp>
      <p:sp>
        <p:nvSpPr>
          <p:cNvPr id="38" name="Text 36"/>
          <p:cNvSpPr/>
          <p:nvPr/>
        </p:nvSpPr>
        <p:spPr>
          <a:xfrm>
            <a:off x="6373368" y="1837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customers.csv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88920" y="2121408"/>
            <a:ext cx="6080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88920" y="2121408"/>
            <a:ext cx="54864" cy="6583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41" name="Shape 39"/>
          <p:cNvSpPr/>
          <p:nvPr/>
        </p:nvSpPr>
        <p:spPr>
          <a:xfrm>
            <a:off x="2843784" y="2121408"/>
            <a:ext cx="475488" cy="6583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42" name="Text 40"/>
          <p:cNvSpPr/>
          <p:nvPr/>
        </p:nvSpPr>
        <p:spPr>
          <a:xfrm>
            <a:off x="2843784" y="21214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01568" y="215798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Product Profitability vs Cost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01568" y="23957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JOIN sales ↔ products on Product_Name — compute actual margin vs cost price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01568" y="25786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01768" y="256946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47" name="Text 45"/>
          <p:cNvSpPr/>
          <p:nvPr/>
        </p:nvSpPr>
        <p:spPr>
          <a:xfrm>
            <a:off x="5001768" y="2569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81928" y="256946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/>
        </p:spPr>
      </p:sp>
      <p:sp>
        <p:nvSpPr>
          <p:cNvPr id="49" name="Text 47"/>
          <p:cNvSpPr/>
          <p:nvPr/>
        </p:nvSpPr>
        <p:spPr>
          <a:xfrm>
            <a:off x="6281928" y="2569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products.csv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88920" y="2852928"/>
            <a:ext cx="6080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88920" y="2852928"/>
            <a:ext cx="54864" cy="6583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52" name="Shape 50"/>
          <p:cNvSpPr/>
          <p:nvPr/>
        </p:nvSpPr>
        <p:spPr>
          <a:xfrm>
            <a:off x="2843784" y="2852928"/>
            <a:ext cx="475488" cy="6583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53" name="Text 51"/>
          <p:cNvSpPr/>
          <p:nvPr/>
        </p:nvSpPr>
        <p:spPr>
          <a:xfrm>
            <a:off x="2843784" y="285292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01568" y="288950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Return Rate Analysis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401568" y="31272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JOIN sales ↔ returns on Order_ID — return rate % per category &amp; reason breakdown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401568" y="3310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001768" y="330098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58" name="Text 56"/>
          <p:cNvSpPr/>
          <p:nvPr/>
        </p:nvSpPr>
        <p:spPr>
          <a:xfrm>
            <a:off x="5001768" y="3300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90488" y="330098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/>
        </p:spPr>
      </p:sp>
      <p:sp>
        <p:nvSpPr>
          <p:cNvPr id="60" name="Text 58"/>
          <p:cNvSpPr/>
          <p:nvPr/>
        </p:nvSpPr>
        <p:spPr>
          <a:xfrm>
            <a:off x="6190488" y="3300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returns.csv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788920" y="3584448"/>
            <a:ext cx="6080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788920" y="3584448"/>
            <a:ext cx="54864" cy="6583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63" name="Shape 61"/>
          <p:cNvSpPr/>
          <p:nvPr/>
        </p:nvSpPr>
        <p:spPr>
          <a:xfrm>
            <a:off x="2843784" y="3584448"/>
            <a:ext cx="475488" cy="65836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64" name="Text 62"/>
          <p:cNvSpPr/>
          <p:nvPr/>
        </p:nvSpPr>
        <p:spPr>
          <a:xfrm>
            <a:off x="2843784" y="358444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401568" y="362102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Loyal Customers with Return History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401568" y="38587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3-table JOIN: sales ↔ customers ↔ returns — find repeat buyers who also returned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401568" y="40416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001768" y="4032504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1B4F8C"/>
          </a:solidFill>
          <a:ln/>
        </p:spPr>
      </p:sp>
      <p:sp>
        <p:nvSpPr>
          <p:cNvPr id="69" name="Text 67"/>
          <p:cNvSpPr/>
          <p:nvPr/>
        </p:nvSpPr>
        <p:spPr>
          <a:xfrm>
            <a:off x="5001768" y="4032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customers.csv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922008" y="40325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71" name="Text 69"/>
          <p:cNvSpPr/>
          <p:nvPr/>
        </p:nvSpPr>
        <p:spPr>
          <a:xfrm>
            <a:off x="6922008" y="4032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379208" y="403250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/>
        </p:spPr>
      </p:sp>
      <p:sp>
        <p:nvSpPr>
          <p:cNvPr id="73" name="Text 71"/>
          <p:cNvSpPr/>
          <p:nvPr/>
        </p:nvSpPr>
        <p:spPr>
          <a:xfrm>
            <a:off x="7379208" y="40325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returns.csv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88920" y="4315968"/>
            <a:ext cx="6080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788920" y="4315968"/>
            <a:ext cx="54864" cy="6583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6" name="Shape 74"/>
          <p:cNvSpPr/>
          <p:nvPr/>
        </p:nvSpPr>
        <p:spPr>
          <a:xfrm>
            <a:off x="2843784" y="4315968"/>
            <a:ext cx="475488" cy="6583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7" name="Text 75"/>
          <p:cNvSpPr/>
          <p:nvPr/>
        </p:nvSpPr>
        <p:spPr>
          <a:xfrm>
            <a:off x="2843784" y="43159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BON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401568" y="43525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</a:rPr>
              <a:t>Window Function: Running Total + Rank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401568" y="45902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SUM(Sales) OVER(ORDER BY Month) · RANK() OVER(PARTITION BY Category ORDER BY Sales DESC)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401568" y="47731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001768" y="476402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82" name="Text 80"/>
          <p:cNvSpPr/>
          <p:nvPr/>
        </p:nvSpPr>
        <p:spPr>
          <a:xfrm>
            <a:off x="5001768" y="4764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281928" y="476402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/>
        </p:spPr>
      </p:sp>
      <p:sp>
        <p:nvSpPr>
          <p:cNvPr id="84" name="Text 82"/>
          <p:cNvSpPr/>
          <p:nvPr/>
        </p:nvSpPr>
        <p:spPr>
          <a:xfrm>
            <a:off x="6281928" y="4764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products.csv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788920" y="4892040"/>
            <a:ext cx="612648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86" name="Text 84"/>
          <p:cNvSpPr/>
          <p:nvPr/>
        </p:nvSpPr>
        <p:spPr>
          <a:xfrm>
            <a:off x="2816352" y="4892040"/>
            <a:ext cx="6071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📁 Deliverable: queries.sql — all queries with JOIN logic, output screenshots &amp; comments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114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PHASE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03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</a:rPr>
              <a:t>PYTHON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208483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CEE"/>
                </a:solidFill>
              </a:rPr>
              <a:t>EDA &amp; Multi-File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CCEE"/>
                </a:solidFill>
              </a:rPr>
              <a:t>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2880360"/>
            <a:ext cx="2377440" cy="19202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9C46A"/>
                </a:solidFill>
              </a:rPr>
              <a:t>FILES USED: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3218688"/>
            <a:ext cx="2231136" cy="292608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321868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retail_sales_2023.csv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2880" y="3602736"/>
            <a:ext cx="2231136" cy="292608"/>
          </a:xfrm>
          <a:prstGeom prst="roundRect">
            <a:avLst>
              <a:gd name="adj" fmla="val 12500"/>
            </a:avLst>
          </a:prstGeom>
          <a:solidFill>
            <a:srgbClr val="AADDFF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360273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customers.csv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" y="3986784"/>
            <a:ext cx="2231136" cy="292608"/>
          </a:xfrm>
          <a:prstGeom prst="roundRect">
            <a:avLst>
              <a:gd name="adj" fmla="val 12500"/>
            </a:avLst>
          </a:prstGeom>
          <a:solidFill>
            <a:srgbClr val="D5AA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39867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products.csv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4370832"/>
            <a:ext cx="2231136" cy="292608"/>
          </a:xfrm>
          <a:prstGeom prst="roundRect">
            <a:avLst>
              <a:gd name="adj" fmla="val 12500"/>
            </a:avLst>
          </a:prstGeom>
          <a:solidFill>
            <a:srgbClr val="FFBB99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437083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returns.csv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0" y="48006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AACC"/>
                </a:solidFill>
              </a:rPr>
              <a:t>NumPy · Pandas · Matplotlib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88920" y="16459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42"/>
                </a:solidFill>
              </a:rPr>
              <a:t>EDA Tasks &amp; Visualizations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88920" y="548640"/>
            <a:ext cx="6126480" cy="36576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9" name="Shape 17"/>
          <p:cNvSpPr/>
          <p:nvPr/>
        </p:nvSpPr>
        <p:spPr>
          <a:xfrm>
            <a:off x="2788920" y="658368"/>
            <a:ext cx="6080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88920" y="658368"/>
            <a:ext cx="54864" cy="868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1" name="Shape 19"/>
          <p:cNvSpPr/>
          <p:nvPr/>
        </p:nvSpPr>
        <p:spPr>
          <a:xfrm>
            <a:off x="2852928" y="713232"/>
            <a:ext cx="310896" cy="310896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22" name="Text 20"/>
          <p:cNvSpPr/>
          <p:nvPr/>
        </p:nvSpPr>
        <p:spPr>
          <a:xfrm>
            <a:off x="2852928" y="713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55264" y="704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Load &amp; Merge All Files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55264" y="9509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pd.read_csv() all 4 files · merge sales+customers on Customer_ID · merge with returns on Order_ID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55264" y="1234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55464" y="1225296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4855464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27064" y="122529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1B4F8C"/>
          </a:solidFill>
          <a:ln/>
        </p:spPr>
      </p:sp>
      <p:sp>
        <p:nvSpPr>
          <p:cNvPr id="29" name="Text 27"/>
          <p:cNvSpPr/>
          <p:nvPr/>
        </p:nvSpPr>
        <p:spPr>
          <a:xfrm>
            <a:off x="6227064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customers.csv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32904" y="1225296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/>
        </p:spPr>
      </p:sp>
      <p:sp>
        <p:nvSpPr>
          <p:cNvPr id="31" name="Text 29"/>
          <p:cNvSpPr/>
          <p:nvPr/>
        </p:nvSpPr>
        <p:spPr>
          <a:xfrm>
            <a:off x="7232904" y="1225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returns.csv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88920" y="1499616"/>
            <a:ext cx="6080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88920" y="1499616"/>
            <a:ext cx="54864" cy="868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4" name="Shape 32"/>
          <p:cNvSpPr/>
          <p:nvPr/>
        </p:nvSpPr>
        <p:spPr>
          <a:xfrm>
            <a:off x="2852928" y="1554480"/>
            <a:ext cx="310896" cy="310896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5" name="Text 33"/>
          <p:cNvSpPr/>
          <p:nvPr/>
        </p:nvSpPr>
        <p:spPr>
          <a:xfrm>
            <a:off x="285292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55264" y="15453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NumPy Stats + Outlier Detection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255264" y="179222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mean/median/std of Sales &amp; Profit · IQR outlier detection · compare Rating dist across categories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55264" y="20756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55464" y="206654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40" name="Text 38"/>
          <p:cNvSpPr/>
          <p:nvPr/>
        </p:nvSpPr>
        <p:spPr>
          <a:xfrm>
            <a:off x="4855464" y="2066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35624" y="206654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/>
        </p:spPr>
      </p:sp>
      <p:sp>
        <p:nvSpPr>
          <p:cNvPr id="42" name="Text 40"/>
          <p:cNvSpPr/>
          <p:nvPr/>
        </p:nvSpPr>
        <p:spPr>
          <a:xfrm>
            <a:off x="6135624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products.csv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88920" y="2340864"/>
            <a:ext cx="6080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88920" y="2340864"/>
            <a:ext cx="54864" cy="868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5" name="Shape 43"/>
          <p:cNvSpPr/>
          <p:nvPr/>
        </p:nvSpPr>
        <p:spPr>
          <a:xfrm>
            <a:off x="2852928" y="2395728"/>
            <a:ext cx="310896" cy="310896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46" name="Text 44"/>
          <p:cNvSpPr/>
          <p:nvPr/>
        </p:nvSpPr>
        <p:spPr>
          <a:xfrm>
            <a:off x="2852928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55264" y="23865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Customer Segment Analysis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255264" y="26334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groupby Segment → avg Sales, order frequency · Age distribution · City-level heatmap data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55264" y="29169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55464" y="29077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51" name="Text 49"/>
          <p:cNvSpPr/>
          <p:nvPr/>
        </p:nvSpPr>
        <p:spPr>
          <a:xfrm>
            <a:off x="4855464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27064" y="2907792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1B4F8C"/>
          </a:solidFill>
          <a:ln/>
        </p:spPr>
      </p:sp>
      <p:sp>
        <p:nvSpPr>
          <p:cNvPr id="53" name="Text 51"/>
          <p:cNvSpPr/>
          <p:nvPr/>
        </p:nvSpPr>
        <p:spPr>
          <a:xfrm>
            <a:off x="6227064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customers.csv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88920" y="3182112"/>
            <a:ext cx="6080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788920" y="3182112"/>
            <a:ext cx="54864" cy="868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6" name="Shape 54"/>
          <p:cNvSpPr/>
          <p:nvPr/>
        </p:nvSpPr>
        <p:spPr>
          <a:xfrm>
            <a:off x="2852928" y="3236976"/>
            <a:ext cx="310896" cy="310896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57" name="Text 55"/>
          <p:cNvSpPr/>
          <p:nvPr/>
        </p:nvSpPr>
        <p:spPr>
          <a:xfrm>
            <a:off x="2852928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255264" y="32278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Return Rate &amp; Refund Analysis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3255264" y="3474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return rate per Category · avg Refund_Amount · reasons bar chart · approved vs rejected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255264" y="37581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55464" y="374904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62" name="Text 60"/>
          <p:cNvSpPr/>
          <p:nvPr/>
        </p:nvSpPr>
        <p:spPr>
          <a:xfrm>
            <a:off x="4855464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044184" y="37490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/>
        </p:spPr>
      </p:sp>
      <p:sp>
        <p:nvSpPr>
          <p:cNvPr id="64" name="Text 62"/>
          <p:cNvSpPr/>
          <p:nvPr/>
        </p:nvSpPr>
        <p:spPr>
          <a:xfrm>
            <a:off x="6044184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returns.csv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88920" y="4023360"/>
            <a:ext cx="6080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788920" y="4023360"/>
            <a:ext cx="54864" cy="868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67" name="Shape 65"/>
          <p:cNvSpPr/>
          <p:nvPr/>
        </p:nvSpPr>
        <p:spPr>
          <a:xfrm>
            <a:off x="2852928" y="4078224"/>
            <a:ext cx="310896" cy="310896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68" name="Text 66"/>
          <p:cNvSpPr/>
          <p:nvPr/>
        </p:nvSpPr>
        <p:spPr>
          <a:xfrm>
            <a:off x="2852928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255264" y="4069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Visualizations (4 Required Charts)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3255264" y="43159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Line: Monthly Trend · Bar: Category Sales · Scatter: Discount vs Profit · Bar: Return Reason counts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3255264" y="4599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📂 Dataset(s) used: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55464" y="459028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/>
        </p:spPr>
      </p:sp>
      <p:sp>
        <p:nvSpPr>
          <p:cNvPr id="73" name="Text 71"/>
          <p:cNvSpPr/>
          <p:nvPr/>
        </p:nvSpPr>
        <p:spPr>
          <a:xfrm>
            <a:off x="4855464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retail_sales_2023.csv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227064" y="459028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1B4F8C"/>
          </a:solidFill>
          <a:ln/>
        </p:spPr>
      </p:sp>
      <p:sp>
        <p:nvSpPr>
          <p:cNvPr id="75" name="Text 73"/>
          <p:cNvSpPr/>
          <p:nvPr/>
        </p:nvSpPr>
        <p:spPr>
          <a:xfrm>
            <a:off x="6227064" y="4590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customers.csv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232904" y="4590288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/>
        </p:spPr>
      </p:sp>
      <p:sp>
        <p:nvSpPr>
          <p:cNvPr id="77" name="Text 75"/>
          <p:cNvSpPr/>
          <p:nvPr/>
        </p:nvSpPr>
        <p:spPr>
          <a:xfrm>
            <a:off x="7232904" y="4590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returns.csv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788920" y="4892040"/>
            <a:ext cx="6126480" cy="16459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79" name="Text 77"/>
          <p:cNvSpPr/>
          <p:nvPr/>
        </p:nvSpPr>
        <p:spPr>
          <a:xfrm>
            <a:off x="2816352" y="4892040"/>
            <a:ext cx="6071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📁 Deliverable: analysis.ipynb — merged dataframes, stats, 4 charts, written observations per section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114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PHASE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C46A"/>
                </a:solidFill>
              </a:rPr>
              <a:t>POWER BI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08483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E0D0"/>
                </a:solidFill>
              </a:rPr>
              <a:t>Interactive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E0D0"/>
                </a:solidFill>
              </a:rPr>
              <a:t>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2880360"/>
            <a:ext cx="2377440" cy="2057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9C46A"/>
                </a:solidFill>
              </a:rPr>
              <a:t>ALL 5 FILES USED: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3218688"/>
            <a:ext cx="2231136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32186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retail_sales_2023.csv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2880" y="3557016"/>
            <a:ext cx="2231136" cy="274320"/>
          </a:xfrm>
          <a:prstGeom prst="roundRect">
            <a:avLst>
              <a:gd name="adj" fmla="val 13333"/>
            </a:avLst>
          </a:prstGeom>
          <a:solidFill>
            <a:srgbClr val="AADDFF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355701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customers.csv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" y="3895344"/>
            <a:ext cx="2231136" cy="274320"/>
          </a:xfrm>
          <a:prstGeom prst="roundRect">
            <a:avLst>
              <a:gd name="adj" fmla="val 13333"/>
            </a:avLst>
          </a:prstGeom>
          <a:solidFill>
            <a:srgbClr val="D5AA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389534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products.csv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4233672"/>
            <a:ext cx="2231136" cy="274320"/>
          </a:xfrm>
          <a:prstGeom prst="roundRect">
            <a:avLst>
              <a:gd name="adj" fmla="val 13333"/>
            </a:avLst>
          </a:prstGeom>
          <a:solidFill>
            <a:srgbClr val="FFBB99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423367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returns.csv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2880" y="4572000"/>
            <a:ext cx="2231136" cy="274320"/>
          </a:xfrm>
          <a:prstGeom prst="roundRect">
            <a:avLst>
              <a:gd name="adj" fmla="val 13333"/>
            </a:avLst>
          </a:prstGeom>
          <a:solidFill>
            <a:srgbClr val="A0E0DC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45720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monthly_targets.csv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0" y="48280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CCBB"/>
                </a:solidFill>
              </a:rPr>
              <a:t>Tool: Power BI Desktop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88920" y="16459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42"/>
                </a:solidFill>
              </a:rPr>
              <a:t>Dashboard Requirements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788920" y="548640"/>
            <a:ext cx="612648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2" y="640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KPI Cards: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960120"/>
            <a:ext cx="1901952" cy="384048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88920" y="96926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88920" y="1179576"/>
            <a:ext cx="1901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AA"/>
                </a:solidFill>
              </a:rPr>
              <a:t>from: Sales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818888" y="960120"/>
            <a:ext cx="1901952" cy="384048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18888" y="96926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Profit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18888" y="1179576"/>
            <a:ext cx="1901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AA"/>
                </a:solidFill>
              </a:rPr>
              <a:t>from: Sales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848856" y="960120"/>
            <a:ext cx="1901952" cy="384048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48856" y="96926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Orders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48856" y="1179576"/>
            <a:ext cx="1901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AA"/>
                </a:solidFill>
              </a:rPr>
              <a:t>from: Sales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88920" y="1417320"/>
            <a:ext cx="1901952" cy="384048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88920" y="142646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Return Rate 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88920" y="1636776"/>
            <a:ext cx="1901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AA"/>
                </a:solidFill>
              </a:rPr>
              <a:t>from: Sales+Returns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818888" y="1417320"/>
            <a:ext cx="1901952" cy="384048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18888" y="142646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Avg Customer Age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18888" y="1636776"/>
            <a:ext cx="1901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AA"/>
                </a:solidFill>
              </a:rPr>
              <a:t>from: Customers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848856" y="1417320"/>
            <a:ext cx="1901952" cy="384048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48856" y="142646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Target Achievement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48856" y="1636776"/>
            <a:ext cx="1901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AA"/>
                </a:solidFill>
              </a:rPr>
              <a:t>from: Targets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816352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Required Visuals: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88920" y="2240280"/>
            <a:ext cx="2926080" cy="512064"/>
          </a:xfrm>
          <a:prstGeom prst="rect">
            <a:avLst/>
          </a:prstGeom>
          <a:solidFill>
            <a:srgbClr val="FFF4EE"/>
          </a:solidFill>
          <a:ln w="6350">
            <a:solidFill>
              <a:srgbClr val="FFD0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52928" y="2258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</a:rPr>
              <a:t>📊 Bar Chart: Sales by Category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852928" y="2487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76F51"/>
                </a:solidFill>
              </a:rPr>
              <a:t>📂 Sales + Products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52160" y="2240280"/>
            <a:ext cx="2926080" cy="512064"/>
          </a:xfrm>
          <a:prstGeom prst="rect">
            <a:avLst/>
          </a:prstGeom>
          <a:solidFill>
            <a:srgbClr val="FFF8F4"/>
          </a:solidFill>
          <a:ln w="6350">
            <a:solidFill>
              <a:srgbClr val="FFD0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16168" y="2258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</a:rPr>
              <a:t>📈 Line Chart: Monthly Sales vs Target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16168" y="2487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76F51"/>
                </a:solidFill>
              </a:rPr>
              <a:t>📂 Sales + Targets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88920" y="2825496"/>
            <a:ext cx="2926080" cy="512064"/>
          </a:xfrm>
          <a:prstGeom prst="rect">
            <a:avLst/>
          </a:prstGeom>
          <a:solidFill>
            <a:srgbClr val="FFF4EE"/>
          </a:solidFill>
          <a:ln w="6350">
            <a:solidFill>
              <a:srgbClr val="FFD0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52928" y="2843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</a:rPr>
              <a:t>🍩 Donut Chart: Return Status Breakdown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852928" y="307238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76F51"/>
                </a:solidFill>
              </a:rPr>
              <a:t>📂 Returns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852160" y="2825496"/>
            <a:ext cx="2926080" cy="512064"/>
          </a:xfrm>
          <a:prstGeom prst="rect">
            <a:avLst/>
          </a:prstGeom>
          <a:solidFill>
            <a:srgbClr val="FFF8F4"/>
          </a:solidFill>
          <a:ln w="6350">
            <a:solidFill>
              <a:srgbClr val="FFD0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16168" y="2843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</a:rPr>
              <a:t>📋 Matrix Table: Segment × Region Sales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16168" y="307238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76F51"/>
                </a:solidFill>
              </a:rPr>
              <a:t>📂 Sales + Customers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88920" y="3410712"/>
            <a:ext cx="2926080" cy="512064"/>
          </a:xfrm>
          <a:prstGeom prst="rect">
            <a:avLst/>
          </a:prstGeom>
          <a:solidFill>
            <a:srgbClr val="FFF4EE"/>
          </a:solidFill>
          <a:ln w="6350">
            <a:solidFill>
              <a:srgbClr val="FFD0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52928" y="3429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</a:rPr>
              <a:t>📉 Column Chart: Products: Rating vs Revenue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852928" y="3657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76F51"/>
                </a:solidFill>
              </a:rPr>
              <a:t>📂 Sales + Products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852160" y="3410712"/>
            <a:ext cx="2926080" cy="512064"/>
          </a:xfrm>
          <a:prstGeom prst="rect">
            <a:avLst/>
          </a:prstGeom>
          <a:solidFill>
            <a:srgbClr val="FFF8F4"/>
          </a:solidFill>
          <a:ln w="6350">
            <a:solidFill>
              <a:srgbClr val="FFD0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16168" y="3429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</a:rPr>
              <a:t>🗺️ Map Visual: Sales by City/Region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916168" y="3657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76F51"/>
                </a:solidFill>
              </a:rPr>
              <a:t>📂 Sales + Customers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816352" y="4041648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76F51"/>
                </a:solidFill>
              </a:rPr>
              <a:t>Slicers: Region · Category · Date Range · Customer Segment · Return Status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816352" y="432511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57D"/>
                </a:solidFill>
              </a:rPr>
              <a:t>Data Model: Build relationships in Power BI between all 5 tables using Customer_ID, Order_ID, Product_Name, Region+Category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88920" y="4663440"/>
            <a:ext cx="6126480" cy="16459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2" name="Text 60"/>
          <p:cNvSpPr/>
          <p:nvPr/>
        </p:nvSpPr>
        <p:spPr>
          <a:xfrm>
            <a:off x="2816352" y="4663440"/>
            <a:ext cx="6071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📁 Deliverable: dashboard.pbix with 5-table data model + 6 visuals + 6 KPIs + slicers + PDF export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4A261"/>
                </a:solidFill>
              </a:rPr>
              <a:t>POWER BI DATA MODEL — How to Connect the 5 Tables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859536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463040"/>
            <a:ext cx="2743200" cy="1554480"/>
          </a:xfrm>
          <a:prstGeom prst="rect">
            <a:avLst/>
          </a:prstGeom>
          <a:solidFill>
            <a:srgbClr val="0D3320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463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retail_sales_2023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73552" y="1828800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FFAA"/>
                </a:solidFill>
              </a:rPr>
              <a:t>Order_ID (PK)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73552" y="2048256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FFAA"/>
                </a:solidFill>
              </a:rPr>
              <a:t>Customer_ID (FK)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73552" y="226771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FFAA"/>
                </a:solidFill>
              </a:rPr>
              <a:t>Product_Name (FK)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73552" y="2487168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FFAA"/>
                </a:solidFill>
              </a:rPr>
              <a:t>Order_Date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73552" y="270662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FFAA"/>
                </a:solidFill>
              </a:rPr>
              <a:t>Sales · Profit · Discount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822960"/>
            <a:ext cx="256032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822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7DD2"/>
                </a:solidFill>
              </a:rPr>
              <a:t>customers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1752" y="1133856"/>
            <a:ext cx="24140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FF"/>
                </a:solidFill>
              </a:rPr>
              <a:t>Customer_ID (PK)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1752" y="1316736"/>
            <a:ext cx="24140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FF"/>
                </a:solidFill>
              </a:rPr>
              <a:t>Customer_Name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1752" y="1499616"/>
            <a:ext cx="24140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FF"/>
                </a:solidFill>
              </a:rPr>
              <a:t>Age · Gender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1752" y="1682496"/>
            <a:ext cx="24140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FF"/>
                </a:solidFill>
              </a:rPr>
              <a:t>City · Region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1752" y="1865376"/>
            <a:ext cx="24140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FF"/>
                </a:solidFill>
              </a:rPr>
              <a:t>Segment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88920" y="1645920"/>
            <a:ext cx="411480" cy="-365760"/>
          </a:xfrm>
          <a:prstGeom prst="line">
            <a:avLst/>
          </a:prstGeom>
          <a:noFill/>
          <a:ln w="19050">
            <a:solidFill>
              <a:srgbClr val="2D7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143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7DD2"/>
                </a:solidFill>
              </a:rPr>
              <a:t>Customer_ID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355080" y="822960"/>
            <a:ext cx="2560320" cy="1280160"/>
          </a:xfrm>
          <a:prstGeom prst="rect">
            <a:avLst/>
          </a:prstGeom>
          <a:solidFill>
            <a:srgbClr val="1E0D3C"/>
          </a:solidFill>
          <a:ln w="12700">
            <a:solidFill>
              <a:srgbClr val="A08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822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080FF"/>
                </a:solidFill>
              </a:rPr>
              <a:t>products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19088" y="1133856"/>
            <a:ext cx="24140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5AAFF"/>
                </a:solidFill>
              </a:rPr>
              <a:t>Product_ID (PK)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19088" y="1316736"/>
            <a:ext cx="24140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5AAFF"/>
                </a:solidFill>
              </a:rPr>
              <a:t>Product_Name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19088" y="1499616"/>
            <a:ext cx="24140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5AAFF"/>
                </a:solidFill>
              </a:rPr>
              <a:t>Category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19088" y="1682496"/>
            <a:ext cx="24140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5AAFF"/>
                </a:solidFill>
              </a:rPr>
              <a:t>Cost_Price · Rating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19088" y="1865376"/>
            <a:ext cx="24140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5AAFF"/>
                </a:solidFill>
              </a:rPr>
              <a:t>Stock_Qty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0" y="1645920"/>
            <a:ext cx="411480" cy="-365760"/>
          </a:xfrm>
          <a:prstGeom prst="line">
            <a:avLst/>
          </a:prstGeom>
          <a:noFill/>
          <a:ln w="19050">
            <a:solidFill>
              <a:srgbClr val="A08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143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80FF"/>
                </a:solidFill>
              </a:rPr>
              <a:t>Product_Name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28600" y="3246120"/>
            <a:ext cx="2560320" cy="1188720"/>
          </a:xfrm>
          <a:prstGeom prst="rect">
            <a:avLst/>
          </a:prstGeom>
          <a:solidFill>
            <a:srgbClr val="3C120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2461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returns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01752" y="3547872"/>
            <a:ext cx="24140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B99"/>
                </a:solidFill>
              </a:rPr>
              <a:t>Return_ID (PK)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1752" y="3712464"/>
            <a:ext cx="24140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B99"/>
                </a:solidFill>
              </a:rPr>
              <a:t>Order_ID (FK)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01752" y="3877056"/>
            <a:ext cx="24140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B99"/>
                </a:solidFill>
              </a:rPr>
              <a:t>Customer_ID (FK)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01752" y="4041648"/>
            <a:ext cx="24140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B99"/>
                </a:solidFill>
              </a:rPr>
              <a:t>Return_Reason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01752" y="4206240"/>
            <a:ext cx="24140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B99"/>
                </a:solidFill>
              </a:rPr>
              <a:t>Refund_Amount · Status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88920" y="3291840"/>
            <a:ext cx="411480" cy="32004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78608" y="34930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A261"/>
                </a:solidFill>
              </a:rPr>
              <a:t>Order_ID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355080" y="3246120"/>
            <a:ext cx="2560320" cy="1188720"/>
          </a:xfrm>
          <a:prstGeom prst="rect">
            <a:avLst/>
          </a:prstGeom>
          <a:solidFill>
            <a:srgbClr val="00241E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2461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monthly_targets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19088" y="3547872"/>
            <a:ext cx="24140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E0DC"/>
                </a:solidFill>
              </a:rPr>
              <a:t>Region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19088" y="3712464"/>
            <a:ext cx="24140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E0DC"/>
                </a:solidFill>
              </a:rPr>
              <a:t>Category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19088" y="3877056"/>
            <a:ext cx="24140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E0DC"/>
                </a:solidFill>
              </a:rPr>
              <a:t>Month · Month_Num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19088" y="4041648"/>
            <a:ext cx="24140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E0DC"/>
                </a:solidFill>
              </a:rPr>
              <a:t>Sales_Target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419088" y="4206240"/>
            <a:ext cx="24140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E0DC"/>
                </a:solidFill>
              </a:rPr>
              <a:t>Sales_Actual · Achievement%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43600" y="3291840"/>
            <a:ext cx="411480" cy="32004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96128" y="34930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7377"/>
                </a:solidFill>
              </a:rPr>
              <a:t>Region+Category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A261"/>
                </a:solidFill>
              </a:rPr>
              <a:t>In Power BI: Go to Model View → Drag Customer_ID from customers to sales · Drag Order_ID from sales to returns · Use Category+Region composite for targets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4A261"/>
                </a:solidFill>
              </a:rPr>
              <a:t>POWER BI DASHBOARD — EXPECTED LAYOUT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859536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640080"/>
            <a:ext cx="8686800" cy="4315968"/>
          </a:xfrm>
          <a:prstGeom prst="rect">
            <a:avLst/>
          </a:prstGeom>
          <a:solidFill>
            <a:srgbClr val="25253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40080"/>
            <a:ext cx="8686800" cy="43891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🛒  Retail Sales Analytics 2023 | All 5 Datasets Connected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143000"/>
            <a:ext cx="1335024" cy="5303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1521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 48.2L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Revenue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28216" y="1143000"/>
            <a:ext cx="1335024" cy="53035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1" name="Text 9"/>
          <p:cNvSpPr/>
          <p:nvPr/>
        </p:nvSpPr>
        <p:spPr>
          <a:xfrm>
            <a:off x="1728216" y="11521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 6.8L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28216" y="143560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Profit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63824" y="1143000"/>
            <a:ext cx="1335024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3163824" y="11521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12,430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63824" y="143560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Orders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99432" y="1143000"/>
            <a:ext cx="1335024" cy="5303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11521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3.9%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99432" y="143560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Return Rate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1335024" cy="53035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1521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38 yrs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143560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Avg Age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70648" y="1143000"/>
            <a:ext cx="1335024" cy="5303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7470648" y="11521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87%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70648" y="143560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Target Hit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2608" y="1737360"/>
            <a:ext cx="2834640" cy="1097280"/>
          </a:xfrm>
          <a:prstGeom prst="rect">
            <a:avLst/>
          </a:prstGeom>
          <a:solidFill>
            <a:srgbClr val="1B4F8C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057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Sales by Category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(Sales+Products)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10128" y="1737360"/>
            <a:ext cx="2834640" cy="1097280"/>
          </a:xfrm>
          <a:prstGeom prst="rect">
            <a:avLst/>
          </a:prstGeom>
          <a:solidFill>
            <a:srgbClr val="2A9D8F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057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📈 Monthly vs Target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(Sales+Targets)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36208" y="1737360"/>
            <a:ext cx="2834640" cy="1097280"/>
          </a:xfrm>
          <a:prstGeom prst="rect">
            <a:avLst/>
          </a:prstGeom>
          <a:solidFill>
            <a:srgbClr val="E76F51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057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🍩 Return 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(Returns)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" y="2907792"/>
            <a:ext cx="3017520" cy="1024128"/>
          </a:xfrm>
          <a:prstGeom prst="rect">
            <a:avLst/>
          </a:prstGeom>
          <a:solidFill>
            <a:srgbClr val="264653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32278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📋 Segment × Region Matrix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(Sales+Customers)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01568" y="2907792"/>
            <a:ext cx="2834640" cy="1024128"/>
          </a:xfrm>
          <a:prstGeom prst="rect">
            <a:avLst/>
          </a:prstGeom>
          <a:solidFill>
            <a:srgbClr val="264653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32278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📉 Product Rating vs Revenue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(Sales+Products)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27648" y="2907792"/>
            <a:ext cx="2560320" cy="1024128"/>
          </a:xfrm>
          <a:prstGeom prst="rect">
            <a:avLst/>
          </a:prstGeom>
          <a:solidFill>
            <a:srgbClr val="264653"/>
          </a:solidFill>
          <a:ln w="3810">
            <a:solidFill>
              <a:srgbClr val="4444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3227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🗺️ Sales Map by City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(Sales+Customers)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A261"/>
                </a:solidFill>
              </a:rPr>
              <a:t>⬛ Slicers: Region · Category · Date · Segment · Return Status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GRADING RUBRIC &amp; SUBMISSION CHECKLIST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4A261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74904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2103120"/>
                <a:gridCol w="384048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Datasets Used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Criteria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Excel — Cleaning + VLOOKUP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</a:rPr>
                        <a:t>Sales + Customers + Targets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Duplicates removed, VLOOKUP pulls city/segment, formats correct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Excel — Pivots + Target Analysis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</a:rPr>
                        <a:t>Sales + Targets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4 pivots, target vs actual chart, conditional formatting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SQL — Single Table Queries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</a:rPr>
                        <a:t>Sales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GROUP BY, ORDER BY, HAVING, correct aggregations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SQL — JOIN Queries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4F8C"/>
                          </a:solidFill>
                        </a:rPr>
                        <a:t>Sales+Customers+Products+Returns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All JOIN queries correct with proper aliases and logic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Python — Load, Merge &amp; Clean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342"/>
                          </a:solidFill>
                        </a:rPr>
                        <a:t>Sales+Customers+Returns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All files merged correctly, nulls handled, dtypes fixed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Python — EDA + 4 Charts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342"/>
                          </a:solidFill>
                        </a:rPr>
                        <a:t>Sales+Customers+Returns+Products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Correct analysis, labeled charts, written observations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Power BI — Data 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</a:rPr>
                        <a:t>All 5 Files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Correct relationships built between all 5 tables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Power BI — Dashboard &amp; Slicers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</a:rPr>
                        <a:t>All 5 Files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3A40"/>
                          </a:solidFill>
                        </a:rPr>
                        <a:t>6 visuals, 6 KPIs, 5 slicers, clean design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Pass: 60+  |  Distinction: 85+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Submit: YourName_Capstone.zip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Files to submit: retail_cleaned.xlsx  ·  queries.sql  ·  analysis.ipynb  ·  dashboard.pbix  ·  dashboard.pdf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4A261"/>
                </a:solidFill>
              </a:rPr>
              <a:t>TIPS &amp; COMMON MISTAKES TO AVOID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77240"/>
            <a:ext cx="8412480" cy="512064"/>
          </a:xfrm>
          <a:prstGeom prst="rect">
            <a:avLst/>
          </a:prstGeom>
          <a:solidFill>
            <a:srgbClr val="0D2E52"/>
          </a:solidFill>
          <a:ln w="6350">
            <a:solidFill>
              <a:srgbClr val="2D7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</a:rPr>
              <a:t>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8321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</a:rPr>
              <a:t>Excel: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01952" y="85039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</a:rPr>
              <a:t>Use VLOOKUP/XLOOKUP to pull customer city from customers.csv — don't type it manually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62456"/>
            <a:ext cx="8412480" cy="512064"/>
          </a:xfrm>
          <a:prstGeom prst="rect">
            <a:avLst/>
          </a:prstGeom>
          <a:solidFill>
            <a:srgbClr val="0D2E52"/>
          </a:solidFill>
          <a:ln w="6350">
            <a:solidFill>
              <a:srgbClr val="2D7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62456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</a:rPr>
              <a:t>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417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</a:rPr>
              <a:t>SQL: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01952" y="143560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</a:rPr>
              <a:t>Always alias tables: sales s JOIN customers c ON s.Customer_ID = c.Customer_ID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47672"/>
            <a:ext cx="8412480" cy="512064"/>
          </a:xfrm>
          <a:prstGeom prst="rect">
            <a:avLst/>
          </a:prstGeom>
          <a:solidFill>
            <a:srgbClr val="0D2E52"/>
          </a:solidFill>
          <a:ln w="6350">
            <a:solidFill>
              <a:srgbClr val="2D7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47672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</a:rPr>
              <a:t>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0025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</a:rPr>
              <a:t>Python: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01952" y="2020824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</a:rPr>
              <a:t>Use pd.merge() not just read_csv alone — merge all needed files before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32888"/>
            <a:ext cx="8412480" cy="512064"/>
          </a:xfrm>
          <a:prstGeom prst="rect">
            <a:avLst/>
          </a:prstGeom>
          <a:solidFill>
            <a:srgbClr val="0D2E52"/>
          </a:solidFill>
          <a:ln w="6350">
            <a:solidFill>
              <a:srgbClr val="2D7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3288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</a:rPr>
              <a:t>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5877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</a:rPr>
              <a:t>Power BI: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01952" y="26060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</a:rPr>
              <a:t>Build the Data Model FIRST in Model View before creating any visuals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8412480" cy="512064"/>
          </a:xfrm>
          <a:prstGeom prst="rect">
            <a:avLst/>
          </a:prstGeom>
          <a:solidFill>
            <a:srgbClr val="2D1A1A"/>
          </a:solidFill>
          <a:ln w="635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18104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6F51"/>
                </a:solidFill>
              </a:rPr>
              <a:t>⚠️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172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Common: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01952" y="3191256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</a:rPr>
              <a:t>Don't analyse returns in isolation — always join back to sales for context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512064"/>
          </a:xfrm>
          <a:prstGeom prst="rect">
            <a:avLst/>
          </a:prstGeom>
          <a:solidFill>
            <a:srgbClr val="2D1A1A"/>
          </a:solidFill>
          <a:ln w="635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03320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6F51"/>
                </a:solidFill>
              </a:rPr>
              <a:t>⚠️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37581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Common: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01952" y="377647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</a:rPr>
              <a:t>In SQL, filter out duplicate Order_IDs using DISTINCT before aggregating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288536"/>
            <a:ext cx="8412480" cy="512064"/>
          </a:xfrm>
          <a:prstGeom prst="rect">
            <a:avLst/>
          </a:prstGeom>
          <a:solidFill>
            <a:srgbClr val="2D1A1A"/>
          </a:solidFill>
          <a:ln w="635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88536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6F51"/>
                </a:solidFill>
              </a:rPr>
              <a:t>⚠️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4343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Common: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01952" y="436168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</a:rPr>
              <a:t>Monthly_targets has no Order_ID — join it on Region AND Category together, not just one column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1B4F8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F4A26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4A261"/>
                </a:solidFill>
              </a:rPr>
              <a:t>YOU'VE GOT THIS! 🚀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CCEE"/>
                </a:solidFill>
              </a:rPr>
              <a:t>Use ALL 5 datasets — think like a real Data Analyst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ACCEE"/>
                </a:solidFill>
              </a:rPr>
              <a:t>who works with multiple connected data sources every day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2331720"/>
            <a:ext cx="1371600" cy="1371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Excel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331720"/>
            <a:ext cx="1371600" cy="1371600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1371600" cy="13716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331720"/>
            <a:ext cx="1371600" cy="13716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5 datasets · 4 tools · 1 real-world portfolio 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315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Data Analyst Training Institute  |  Capstone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Capstone Project v2</dc:title>
  <dc:subject>PptxGenJS Presentation</dc:subject>
  <dc:creator>PptxGenJS</dc:creator>
  <cp:lastModifiedBy>PptxGenJS</cp:lastModifiedBy>
  <cp:revision>1</cp:revision>
  <dcterms:created xsi:type="dcterms:W3CDTF">2026-04-24T11:51:18Z</dcterms:created>
  <dcterms:modified xsi:type="dcterms:W3CDTF">2026-04-24T11:51:18Z</dcterms:modified>
</cp:coreProperties>
</file>